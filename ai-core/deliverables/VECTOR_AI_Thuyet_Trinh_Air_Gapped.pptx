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d7091e33574200" /><Relationship Type="http://schemas.openxmlformats.org/officeDocument/2006/relationships/extended-properties" Target="/docProps/app.xml" Id="R1c954840b3e34e84" /><Relationship Type="http://schemas.openxmlformats.org/officeDocument/2006/relationships/officeDocument" Target="/ppt/presentation.xml" Id="Rfef84c4bfb2348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15a59625f54d3c"/>
  </p:sldMasterIdLst>
  <p:notesMasterIdLst>
    <p:notesMasterId xmlns:r="http://schemas.openxmlformats.org/officeDocument/2006/relationships" r:id="Ree4de16346054cb6"/>
  </p:notesMasterIdLst>
  <p:sldIdLst>
    <p:sldId xmlns:r="http://schemas.openxmlformats.org/officeDocument/2006/relationships" id="256" r:id="R74caeceef7404233"/>
    <p:sldId xmlns:r="http://schemas.openxmlformats.org/officeDocument/2006/relationships" id="257" r:id="R61f3d51005ec45a6"/>
    <p:sldId xmlns:r="http://schemas.openxmlformats.org/officeDocument/2006/relationships" id="258" r:id="R818e0ce8dc4b4a0e"/>
    <p:sldId xmlns:r="http://schemas.openxmlformats.org/officeDocument/2006/relationships" id="259" r:id="R10cc2ee2e86d4d27"/>
    <p:sldId xmlns:r="http://schemas.openxmlformats.org/officeDocument/2006/relationships" id="260" r:id="R1346e6b4c2fe4b83"/>
    <p:sldId xmlns:r="http://schemas.openxmlformats.org/officeDocument/2006/relationships" id="261" r:id="Rcd939bdec337494d"/>
    <p:sldId xmlns:r="http://schemas.openxmlformats.org/officeDocument/2006/relationships" id="262" r:id="R8c0e5f9a18054edd"/>
    <p:sldId xmlns:r="http://schemas.openxmlformats.org/officeDocument/2006/relationships" id="263" r:id="R8077e097d5a149c2"/>
    <p:sldId xmlns:r="http://schemas.openxmlformats.org/officeDocument/2006/relationships" id="264" r:id="R5b999fde141947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29657797844bcd" /><Relationship Type="http://schemas.openxmlformats.org/officeDocument/2006/relationships/slideMaster" Target="/ppt/slideMasters/slideMaster1.xml" Id="Rde15a59625f54d3c" /><Relationship Type="http://schemas.openxmlformats.org/officeDocument/2006/relationships/notesMaster" Target="/ppt/notesMasters/notesMaster1.xml" Id="Ree4de16346054cb6" /><Relationship Type="http://schemas.openxmlformats.org/officeDocument/2006/relationships/presProps" Target="/ppt/presProps.xml" Id="Rdb85e8c72c674f9b" /><Relationship Type="http://schemas.openxmlformats.org/officeDocument/2006/relationships/tableStyles" Target="/ppt/tableStyles.xml" Id="Rc2affdc492a84d91" /><Relationship Type="http://schemas.openxmlformats.org/officeDocument/2006/relationships/slide" Target="/ppt/slides/slide1.xml" Id="R74caeceef7404233" /><Relationship Type="http://schemas.openxmlformats.org/officeDocument/2006/relationships/slide" Target="/ppt/slides/slide2.xml" Id="R61f3d51005ec45a6" /><Relationship Type="http://schemas.openxmlformats.org/officeDocument/2006/relationships/slide" Target="/ppt/slides/slide3.xml" Id="R818e0ce8dc4b4a0e" /><Relationship Type="http://schemas.openxmlformats.org/officeDocument/2006/relationships/slide" Target="/ppt/slides/slide4.xml" Id="R10cc2ee2e86d4d27" /><Relationship Type="http://schemas.openxmlformats.org/officeDocument/2006/relationships/slide" Target="/ppt/slides/slide5.xml" Id="R1346e6b4c2fe4b83" /><Relationship Type="http://schemas.openxmlformats.org/officeDocument/2006/relationships/slide" Target="/ppt/slides/slide6.xml" Id="Rcd939bdec337494d" /><Relationship Type="http://schemas.openxmlformats.org/officeDocument/2006/relationships/slide" Target="/ppt/slides/slide7.xml" Id="R8c0e5f9a18054edd" /><Relationship Type="http://schemas.openxmlformats.org/officeDocument/2006/relationships/slide" Target="/ppt/slides/slide8.xml" Id="R8077e097d5a149c2" /><Relationship Type="http://schemas.openxmlformats.org/officeDocument/2006/relationships/slide" Target="/ppt/slides/slide9.xml" Id="R5b999fde141947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17db2083ed40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7a98ec7a8344c0a" /><Relationship Type="http://schemas.openxmlformats.org/officeDocument/2006/relationships/notesMaster" Target="/ppt/notesMasters/notesMaster1.xml" Id="R0a46219b50874f4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351e16745049e5" /><Relationship Type="http://schemas.openxmlformats.org/officeDocument/2006/relationships/notesMaster" Target="/ppt/notesMasters/notesMaster1.xml" Id="Rbe1644de496d4b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0b53dca98fc4e35" /><Relationship Type="http://schemas.openxmlformats.org/officeDocument/2006/relationships/notesMaster" Target="/ppt/notesMasters/notesMaster1.xml" Id="R7c47e9f14fa946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798319490447a2" /><Relationship Type="http://schemas.openxmlformats.org/officeDocument/2006/relationships/notesMaster" Target="/ppt/notesMasters/notesMaster1.xml" Id="Rdae9fdb5031b4a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33aeb53c08e4a68" /><Relationship Type="http://schemas.openxmlformats.org/officeDocument/2006/relationships/notesMaster" Target="/ppt/notesMasters/notesMaster1.xml" Id="R518a4e271cab476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5d7581cc9843d4" /><Relationship Type="http://schemas.openxmlformats.org/officeDocument/2006/relationships/notesMaster" Target="/ppt/notesMasters/notesMaster1.xml" Id="R945522524e6f46e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16cfaef60b45b0" /><Relationship Type="http://schemas.openxmlformats.org/officeDocument/2006/relationships/notesMaster" Target="/ppt/notesMasters/notesMaster1.xml" Id="Rc1e43605be7542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d0066a67fbf4d38" /><Relationship Type="http://schemas.openxmlformats.org/officeDocument/2006/relationships/notesMaster" Target="/ppt/notesMasters/notesMaster1.xml" Id="R2a2758439b7646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d594683a39d47a2" /><Relationship Type="http://schemas.openxmlformats.org/officeDocument/2006/relationships/notesMaster" Target="/ppt/notesMasters/notesMaster1.xml" Id="Re47194b3a8e549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Mở đầu bằng giá trị cốt lõi: suy luận trên thiết bị để dữ liệu nhạy cảm không phải rời khỏi vùng kiểm soát.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C:/code/du_an/python/VECTOR AI/README.md</a:t>
            </a:r>
          </a:p>
          <a:p xmlns:a="http://schemas.openxmlformats.org/drawingml/2006/main">
            <a:r>
              <a:t>- C:/code/du_an/python/VECTOR AI/src-tauri/icons/icon.png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Định vị bài toán theo ba lợi ích: bí mật, khả dụng và chủ quyền công nghệ. Đây là mục tiêu thiết kế, không phải tuyên bố chứng nhận bảo mật.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C:/code/du_an/python/VECTOR AI/README.md</a:t>
            </a:r>
          </a:p>
          <a:p xmlns:a="http://schemas.openxmlformats.org/drawingml/2006/main">
            <a:r>
              <a:t>- C:/code/du_an/python/VECTOR AI/src-tauri/tauri.conf.json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Nhấn mạnh rằng đây không còn là ý tưởng: mã nguồn đã tạo một ứng dụng desktop có UI, model manager, workspace, chat và chế độ xử lý cục bộ.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C:/code/du_an/python/VECTOR AI/README.md</a:t>
            </a:r>
          </a:p>
          <a:p xmlns:a="http://schemas.openxmlformats.org/drawingml/2006/main">
            <a:r>
              <a:t>- C:/code/du_an/python/VECTOR AI/package.json</a:t>
            </a:r>
          </a:p>
          <a:p xmlns:a="http://schemas.openxmlformats.org/drawingml/2006/main">
            <a:r>
              <a:t>- C:/code/du_an/python/VECTOR AI/src-tauri/tauri.conf.json</a:t>
            </a:r>
          </a:p>
          <a:p xmlns:a="http://schemas.openxmlformats.org/drawingml/2006/main">
            <a:r>
              <a:t>- C:/code/du_an/python/VECTOR AI/src-tauri/src/lib.rs</a:t>
            </a:r>
          </a:p>
          <a:p xmlns:a="http://schemas.openxmlformats.org/drawingml/2006/main">
            <a:r>
              <a:t>- C:/code/du_an/python/VECTOR AI/.codex-build/vector-ai-deck/assets/vector-ui.png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Giải thích luồng từ trái sang phải. Khối lõi gom model, kiểm tra toán và truy xuất tài liệu; kết quả được render và xuất hoàn toàn trong ứng dụng.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C:/code/du_an/python/VECTOR AI/src-tauri/tauri.conf.json</a:t>
            </a:r>
          </a:p>
          <a:p xmlns:a="http://schemas.openxmlformats.org/drawingml/2006/main">
            <a:r>
              <a:t>- C:/code/du_an/python/VECTOR AI/src-tauri/src/lib.rs</a:t>
            </a:r>
          </a:p>
          <a:p xmlns:a="http://schemas.openxmlformats.org/drawingml/2006/main">
            <a:r>
              <a:t>- C:/code/du_an/python/VECTOR AI/src/main.js</a:t>
            </a:r>
          </a:p>
          <a:p xmlns:a="http://schemas.openxmlformats.org/drawingml/2006/main">
            <a:r>
              <a:t>- C:/code/du_an/python/VECTOR AI/package.json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Trình bày năng lực theo ba lớp: suy luận, kiểm tra/trình bày và quản lý tri thức. Không dùng cụm 'mọi phép toán' khi chưa có benchmark.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C:/code/du_an/python/VECTOR AI/package.json</a:t>
            </a:r>
          </a:p>
          <a:p xmlns:a="http://schemas.openxmlformats.org/drawingml/2006/main">
            <a:r>
              <a:t>- C:/code/du_an/python/VECTOR AI/src-tauri/src/lib.rs</a:t>
            </a:r>
          </a:p>
          <a:p xmlns:a="http://schemas.openxmlformats.org/drawingml/2006/main">
            <a:r>
              <a:t>- C:/code/du_an/python/VECTOR AI/src/main.js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Đây là đánh giá dựa trên mã nguồn hiện tại. Tách rõ bảo mật khi runtime với chuỗi cung ứng cài đặt/cập nhật.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C:/code/du_an/python/VECTOR AI/src-tauri/tauri.conf.json</a:t>
            </a:r>
          </a:p>
          <a:p xmlns:a="http://schemas.openxmlformats.org/drawingml/2006/main">
            <a:r>
              <a:t>- C:/code/du_an/python/VECTOR AI/src-tauri/capabilities/default.json</a:t>
            </a:r>
          </a:p>
          <a:p xmlns:a="http://schemas.openxmlformats.org/drawingml/2006/main">
            <a:r>
              <a:t>- C:/code/du_an/python/VECTOR AI/src-tauri/src/lib.rs</a:t>
            </a:r>
          </a:p>
          <a:p xmlns:a="http://schemas.openxmlformats.org/drawingml/2006/main">
            <a:r>
              <a:t>- C:/code/du_an/python/VECTOR AI/src/main.js</a:t>
            </a:r>
          </a:p>
          <a:p xmlns:a="http://schemas.openxmlformats.org/drawingml/2006/main">
            <a:r>
              <a:t>- C:/code/du_an/python/VECTOR AI/src-tauri/windows/hooks.nsh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Đề xuất quy trình hai vùng để không phải đưa toàn bộ phát triển vào môi trường kín. Vùng kết nối chỉ dùng dữ liệu không mật; vùng air-gap giữ dữ liệu thật.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C:/code/du_an/python/VECTOR AI/package.json</a:t>
            </a:r>
          </a:p>
          <a:p xmlns:a="http://schemas.openxmlformats.org/drawingml/2006/main">
            <a:r>
              <a:t>- C:/code/du_an/python/VECTOR AI/src-tauri/windows/hooks.nsh</a:t>
            </a:r>
          </a:p>
          <a:p xmlns:a="http://schemas.openxmlformats.org/drawingml/2006/main">
            <a:r>
              <a:t>- C:/code/du_an/python/VECTOR AI/src-tauri/src/lib.rs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Kiến trúc mục tiêu bổ sung gói ký số, trạm nhập liệu kiểm soát, kho mã hóa và người vận hành phê duyệt kết quả.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C:/code/du_an/python/VECTOR AI/src-tauri/tauri.conf.json</a:t>
            </a:r>
          </a:p>
          <a:p xmlns:a="http://schemas.openxmlformats.org/drawingml/2006/main">
            <a:r>
              <a:t>- C:/code/du_an/python/VECTOR AI/src-tauri/capabilities/default.json</a:t>
            </a:r>
          </a:p>
          <a:p xmlns:a="http://schemas.openxmlformats.org/drawingml/2006/main">
            <a:r>
              <a:t>- C:/code/du_an/python/VECTOR AI/src-tauri/src/lib.rs</a:t>
            </a:r>
          </a:p>
          <a:p xmlns:a="http://schemas.openxmlformats.org/drawingml/2006/main">
            <a:r>
              <a:t>- C:/code/du_an/python/VECTOR AI/src-tauri/windows/hooks.nsh</a:t>
            </a:r>
          </a:p>
          <a:p xmlns:a="http://schemas.openxmlformats.org/drawingml/2006/main">
            <a:r>
              <a:t>- C:/code/du_an/python/VECTOR AI/src/main.js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Kết thúc bằng một quyết định cụ thể: pilot có giới hạn, có benchmark và có người phê duyệt. Phạm vi loại trừ rõ ràng các quyết định sát thương tự động.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C:/code/du_an/python/VECTOR AI/README.md</a:t>
            </a:r>
          </a:p>
          <a:p xmlns:a="http://schemas.openxmlformats.org/drawingml/2006/main">
            <a:r>
              <a:t>- C:/code/du_an/python/VECTOR AI/src-tauri/src/lib.rs</a:t>
            </a:r>
          </a:p>
          <a:p xmlns:a="http://schemas.openxmlformats.org/drawingml/2006/main">
            <a:r>
              <a:t>- C:/code/du_an/python/VECTOR AI/src/main.js</a:t>
            </a:r>
          </a:p>
          <a:p xmlns:a="http://schemas.openxmlformats.org/drawingml/2006/main">
            <a:r>
              <a:t>- C:/code/du_an/python/VECTOR AI/src-tauri/windows/hooks.nsh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a603e42ea431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09ae3aa1704a83" /><Relationship Type="http://schemas.openxmlformats.org/officeDocument/2006/relationships/slideLayout" Target="/ppt/slideLayouts/slideLayout1.xml" Id="R49e2803ea57648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e2803ea57648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e6d49eccb14005" /><Relationship Type="http://schemas.openxmlformats.org/officeDocument/2006/relationships/image" Target="/ppt/media/image.png" Id="Rdd2782911d3945b2" /><Relationship Type="http://schemas.openxmlformats.org/officeDocument/2006/relationships/notesSlide" Target="/ppt/notesSlides/notesSlide1.xml" Id="R313eec1b8d794ec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16378c3ed4885" /><Relationship Type="http://schemas.openxmlformats.org/officeDocument/2006/relationships/notesSlide" Target="/ppt/notesSlides/notesSlide2.xml" Id="R387146f76aba4e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b810bec8c346c2" /><Relationship Type="http://schemas.openxmlformats.org/officeDocument/2006/relationships/image" Target="/ppt/media/image.jpeg" Id="Rad51164946db4041" /><Relationship Type="http://schemas.openxmlformats.org/officeDocument/2006/relationships/notesSlide" Target="/ppt/notesSlides/notesSlide3.xml" Id="R561f4fa214304d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a91ada02ea4c00" /><Relationship Type="http://schemas.openxmlformats.org/officeDocument/2006/relationships/notesSlide" Target="/ppt/notesSlides/notesSlide4.xml" Id="Rc0b06b218ae74e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5245567fd4231" /><Relationship Type="http://schemas.openxmlformats.org/officeDocument/2006/relationships/notesSlide" Target="/ppt/notesSlides/notesSlide5.xml" Id="R36597226a61e47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184eb9dc24709" /><Relationship Type="http://schemas.openxmlformats.org/officeDocument/2006/relationships/notesSlide" Target="/ppt/notesSlides/notesSlide6.xml" Id="R344f087eebf344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d5ffb2ae84a8a" /><Relationship Type="http://schemas.openxmlformats.org/officeDocument/2006/relationships/notesSlide" Target="/ppt/notesSlides/notesSlide7.xml" Id="R70b7fd0b40434c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26f03373f43e4" /><Relationship Type="http://schemas.openxmlformats.org/officeDocument/2006/relationships/notesSlide" Target="/ppt/notesSlides/notesSlide8.xml" Id="R4d6f0b1744a346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2690c850da4b41" /><Relationship Type="http://schemas.openxmlformats.org/officeDocument/2006/relationships/notesSlide" Target="/ppt/notesSlides/notesSlide9.xml" Id="R11229d955c0b494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D6840-C0A8-411C-8FDB-0BAA2ACA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VECTOR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342DD-6C70-48D8-90F5-93F7E14A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00200"/>
            <a:ext cx="6572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Nền tảng suy luận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và mô phỏng ngoại tuyến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B65282-4116-40F6-9406-C75E5A75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Định hướng nghiên cứu, huấn luyện, hậu cần và hỗ trợ quyết định trong môi trường dữ liệu nhạy cảm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E8B9C9-A14F-4FDA-A49B-04D30395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245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F5E5B"/>
                </a:solidFill>
                <a:latin typeface="Arial"/>
                <a:ea typeface="Arial"/>
                <a:cs typeface="Arial"/>
              </a:rPr>
              <a:t>BẢN ĐỀ XUẤT  /  24.08.2026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B463A-D518-47F0-B80E-3352CFED1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666750"/>
            <a:ext cx="3714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782911d3945b2"/>
          <a:stretch xmlns:a="http://schemas.openxmlformats.org/drawingml/2006/main"/>
        </p:blipFill>
        <p:spPr>
          <a:xfrm xmlns:a="http://schemas.openxmlformats.org/drawingml/2006/main">
            <a:off x="8429625" y="1571625"/>
            <a:ext cx="2286000" cy="2286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8707AB-D5FA-48C4-98C7-440BBE34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4286250"/>
            <a:ext cx="295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18DB2-82FB-4059-936E-AC62A817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5295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LOCAL-AI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25A65-BD54-458B-BC26-96907529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Lộ trình hướng tới bảo mật tuyệt đối</a:t>
            </a:r>
          </a:p>
        </p:txBody>
      </p:sp>
    </p:spTree>
    <p:extLst>
      <p:ext uri="{BB962C8B-B14F-4D97-AF65-F5344CB8AC3E}">
        <p14:creationId xmlns:p14="http://schemas.microsoft.com/office/powerpoint/2010/main" val="60927617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3A154-B8C8-4517-9A1A-A47367CB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VECTOR AI  /  OFFLINE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73D9A-CC19-49BE-BC1B-0E7131931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Dữ liệu phải ở lại trong vùng kiểm soát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5D0D8-3B64-4039-B847-DECCBF18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F5E5B"/>
                </a:solidFill>
                <a:latin typeface="Arial"/>
                <a:ea typeface="Arial"/>
                <a:cs typeface="Arial"/>
              </a:rPr>
              <a:t>VECTOR AI  /  ĐỀ XUẤT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2CF69-993E-440B-9F9A-D1F69F13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CCFC09-B88D-453F-9875-CB7B9D2A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76400"/>
            <a:ext cx="5905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Tiềm năng của hệ thống không chỉ dừng ở việc tra cứu thông thường. Giá trị thật sự nằm ở khả năng tính toán, suy luận các bài toán phức tạp để đưa ra kết quả chính xác nhất ngay trên thiết bị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142DEA-6C32-4C1F-BFB7-0B50BAF4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048125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5B891-0C5C-4C99-976B-37D9933A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Mục tiêu vận hành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7ACD40-8AF2-4C9F-9EFA-F11C0D5E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67250"/>
            <a:ext cx="5905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Không phụ thuộc đám mây · Không gửi dữ liệu ra ngoài · Có thể kiểm soát toàn bộ chuỗi xử lý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87A09-7E43-4C01-9C74-87ADE8C1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7907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74A59E-61CD-4F01-832E-0B2AC4D8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9070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Bí mật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DA0BC-5DB5-44EF-82A0-992D2A57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90750"/>
            <a:ext cx="3695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Nội dung hội thoại và tài liệu không phải rời khỏi máy vận hành.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8682C2-EFF8-427F-A015-0C4965D8F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3048000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C9E035-04F3-434D-9961-032A49C9D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86125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F14C0-4603-425F-9163-4EC66B11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86125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Khả dụng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D56908-4CB0-4F4F-8D86-7FA08207C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86175"/>
            <a:ext cx="3695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Có thể làm việc tại nơi không có kết nối hoặc chủ động ngắt mạng.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8E335-6B36-471A-A02F-31CBBEF4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0" y="4543425"/>
            <a:ext cx="4381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6DA42-A647-437F-A3C5-6314EE77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7815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856FB0-9ACE-4F2E-94C1-1E1435E6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781550"/>
            <a:ext cx="3695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Chủ quyền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24BA8D-9EAA-49E0-89D5-B0F098E9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81600"/>
            <a:ext cx="3695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Model, dữ liệu, log và bản cập nhật đều có thể được quản lý nội bộ.</a:t>
            </a:r>
          </a:p>
        </p:txBody>
      </p:sp>
    </p:spTree>
    <p:extLst>
      <p:ext uri="{BB962C8B-B14F-4D97-AF65-F5344CB8AC3E}">
        <p14:creationId xmlns:p14="http://schemas.microsoft.com/office/powerpoint/2010/main" val="677169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4D21DB-3636-40AA-A2AB-91030DC3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VECTOR AI  /  OFFLINE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0A0BC-B584-42DB-AC39-E061F7D4C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Sản phẩm hiện tại đã là một ứng dụng desktop chạy cục bộ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86B35-D88C-4305-A4AB-44D7F1B4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F5E5B"/>
                </a:solidFill>
                <a:latin typeface="Arial"/>
                <a:ea typeface="Arial"/>
                <a:cs typeface="Arial"/>
              </a:rPr>
              <a:t>VECTOR AI  /  ĐỀ XUẤT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B8EC5-F32D-41B5-965A-7E2CC45B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1164946db4041"/>
          <a:srcRect xmlns:a="http://schemas.openxmlformats.org/drawingml/2006/main" l="0" t="65" r="0" b="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0" y="1695450"/>
            <a:ext cx="6477000" cy="3638550"/>
          </a:xfrm>
          <a:prstGeom xmlns:a="http://schemas.openxmlformats.org/drawingml/2006/main" prst="roundRect">
            <a:avLst>
              <a:gd name="adj" fmla="val 3141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FA711B-062A-488D-BDF9-2C4FD650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Ứng dụng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DB265E-71FC-4CEC-A98A-D3A940F0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288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Tauri 2 / Windows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166E23-EA85-48D0-810A-3DD2C256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717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426B4-CECA-40E5-BD09-17845823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Mô hình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98624-431D-4E69-B098-BCF343E40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575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Qwen3.5 9B · Q5_K_M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F96DF7-DC23-46E5-97C9-7D1D2711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6004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24322-212B-463D-BBB8-408C59C70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Máy chủ suy luận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4566ED-F346-4BB5-A276-6C16467C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8622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Ollama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1449C-1254-405F-BAB1-A8DA15AE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629150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4BD829-B20A-40F2-B21D-9385797C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38700"/>
            <a:ext cx="1381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Dữ liệu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BE41FC-002E-4FCE-B4CE-17B3C199F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14925"/>
            <a:ext cx="419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Chat + workspace cục bộ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B98A58-5715-45B5-8CBC-B3A48BE9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5245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Ảnh chụp giao diện từ bản đang chạy trong dự án</a:t>
            </a:r>
          </a:p>
        </p:txBody>
      </p:sp>
    </p:spTree>
    <p:extLst>
      <p:ext uri="{BB962C8B-B14F-4D97-AF65-F5344CB8AC3E}">
        <p14:creationId xmlns:p14="http://schemas.microsoft.com/office/powerpoint/2010/main" val="17009909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0B5A46A-65BD-40EA-B8C9-A6FB5A82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VECTOR AI  /  OFFLINE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DC3DE-B65A-4542-92FA-B404995F6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Một vòng xử lý local nối dữ liệu đầu vào với kết quả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43339-E96C-4A0D-963D-AA982E3E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F5E5B"/>
                </a:solidFill>
                <a:latin typeface="Arial"/>
                <a:ea typeface="Arial"/>
                <a:cs typeface="Arial"/>
              </a:rPr>
              <a:t>VECTOR AI  /  ĐỀ XUẤT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BA5CA8-A7BA-49A0-8D6F-301BEAC0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94AC97-4F11-483C-8F36-C21374E3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097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Kiến trúc hiện tại — luồng vận hành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10B80-7225-4A4D-A544-035362C5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004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925E41-AB75-41E3-BFB6-7E5BF804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2004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970DC-B432-44BF-AA09-32722B0EE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00400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7FA3C-8DAF-464D-845A-B2D65102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495550"/>
            <a:ext cx="1905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B8DDF-EE9A-4602-AB05-A31D5126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CAECA2-A8D0-4DAB-815A-77C0315A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F795FA-F7DE-4EC5-A339-439489CC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8615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Câu hỏi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DOCX / văn bản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Hình ảnh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6E8753-5F95-4DC4-85C3-3D4A8013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2495550"/>
            <a:ext cx="20002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C8A5CB-DEFC-46AE-A468-B7179C51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705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6E5DC6-FE5C-4A33-A60D-09362693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067050"/>
            <a:ext cx="157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Tauri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178287-8E2C-476D-A854-031469FF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86150"/>
            <a:ext cx="15716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Chat / workspace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Lịch sử cục bộ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Artifact &amp; export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65DC77-6C0A-4FF6-90CD-6CD61EBE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14950" y="2038350"/>
            <a:ext cx="36766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0A745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D68A2E-4CB3-49C9-BFF2-4EAE2691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574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03  LÕI XỬ LÝ CỤC BỘ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2846E9-7BDD-4EB9-8C6B-91750056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2686050"/>
            <a:ext cx="3162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BA1D9-1591-468B-B54E-43FF7F63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80987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Ollama + Qwen3.5 9B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04B51-ADF9-4101-A5DD-FAF16750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305175"/>
            <a:ext cx="3162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7A8D5-CCEA-47E5-BACE-B3D37003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4290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MathJS · kiểm tra kết quả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01F0F9-0F98-46E4-9467-CD0FD1BD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72125" y="3924300"/>
            <a:ext cx="3162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81D31C-AB26-4883-AC03-B753355D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48125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Embedding · tham chiếu local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01A5FC-F094-4846-801C-D5BD205D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2495550"/>
            <a:ext cx="2228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E4B26E-CD0B-4923-A950-9413BAF9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705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529D9C-9148-4548-924F-10B7493D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6705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Kết quả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35DB95-4AB9-4A60-9359-518C0340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486150"/>
            <a:ext cx="176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Markdown / LaTeX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Sơ đồ / biểu đồ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DOCX / ZIP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04B34E-A1D3-46FA-BB15-45AD0B0E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219700"/>
            <a:ext cx="1104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716B2C-3A9C-4263-BD67-6A30133A4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006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LUỒNG VẬN HÀNH KHÔNG CẦN ĐÁM MÂY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7CE323-7BDE-4CAB-92AB-C6272E76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504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76E6C4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6E6C4"/>
                </a:solidFill>
                <a:latin typeface="Arial"/>
                <a:ea typeface="Arial"/>
                <a:cs typeface="Arial"/>
              </a:rPr>
              <a:t>CSP chỉ mở IPC và 127.0.0.1:11434</a:t>
            </a:r>
          </a:p>
        </p:txBody>
      </p:sp>
    </p:spTree>
    <p:extLst>
      <p:ext uri="{BB962C8B-B14F-4D97-AF65-F5344CB8AC3E}">
        <p14:creationId xmlns:p14="http://schemas.microsoft.com/office/powerpoint/2010/main" val="6341818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209A7A-4C00-4FB7-9B63-B988CAC70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VECTOR AI  /  OFFLINE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8EDC9-B888-499B-ACC8-DC739BB37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Năng lực hiện tại trải rộng từ suy luận đến tạo artifact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9052EE-6276-4FF1-A87D-55C72102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F5E5B"/>
                </a:solidFill>
                <a:latin typeface="Arial"/>
                <a:ea typeface="Arial"/>
                <a:cs typeface="Arial"/>
              </a:rPr>
              <a:t>VECTOR AI  /  ĐỀ XUẤT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031C4-EF9C-4808-B32D-ED651397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EA00A-E34C-4D88-98AB-1E1943F4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D25413-2987-4783-BA27-6C3EB3C9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Suy luận &amp; tính toán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670A25-66D8-4101-840E-C8AA42B5C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76550"/>
            <a:ext cx="314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Hướng dẫn giải toán và vật lý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Hai chế độ ngữ cảnh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Phản hồi dạng streaming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Giữ nhất quán đơn vị và điều kiện biên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12E7FC-1CB2-4D98-904D-BD258362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00500" y="1695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4EE307-381E-49D1-8BF4-21CC2CA8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954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679A17-A7E5-4025-B4CF-DFC82CBC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43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Kiểm tra &amp; trình bày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43D7A-51B7-4D4A-9E41-10790BFB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7655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MathJS kiểm tra biểu thức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KaTeX hiển thị công thức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Mermaid dựng sơ đồ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Chart.js dựng biểu đồ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Khối kết quả có cấu trúc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C7D36-1F91-4DF0-982E-9AA8B7EB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62875" y="1695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3CBCB9-1A58-4545-9AFF-03A89F48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954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FD0B25-76C5-4DD8-AF71-DDC0527C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43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Tri thức &amp; tài liệu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A1F9C-883D-4E7C-A51B-2511542D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76550"/>
            <a:ext cx="323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Nhập DOCX, văn bản và ảnh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Workspace tham chiếu cục bộ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Embedding và tìm đoạn liên quan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Xuất DOCX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Sao lưu / khôi phục ZIP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D5F9D5-C334-4137-855F-0B905470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429250"/>
            <a:ext cx="1076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0B75F-DE26-48E4-867E-20FA5AB1F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81650"/>
            <a:ext cx="1034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Bề rộng tính năng đã có; bước tiếp theo là đo độ đúng, độ lặp lại và độ an toàn.</a:t>
            </a:r>
          </a:p>
        </p:txBody>
      </p:sp>
    </p:spTree>
    <p:extLst>
      <p:ext uri="{BB962C8B-B14F-4D97-AF65-F5344CB8AC3E}">
        <p14:creationId xmlns:p14="http://schemas.microsoft.com/office/powerpoint/2010/main" val="2126254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F56372-2456-45F9-9A95-91746CB5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VECTOR AI  /  OFFLINE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96123-552A-4CF3-9175-D56C36B8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Private-by-design; air-gapped (cách ly vật lý) tuyệt đối vẫn là mục tiêu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E736D-B490-47AD-9E52-1C9A7789E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F5E5B"/>
                </a:solidFill>
                <a:latin typeface="Arial"/>
                <a:ea typeface="Arial"/>
                <a:cs typeface="Arial"/>
              </a:rPr>
              <a:t>VECTOR AI  /  ĐỀ XUẤT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4CF753-F808-4F80-9995-5FEA65F3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137FDA-6756-423B-8B40-23F3B189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ĐIỂM ĐÃ CÓ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93E46-C6BD-4409-9D3C-5E0E92C8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038350"/>
            <a:ext cx="51435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84E555-E973-44F8-B0EE-050E9BB3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10F493-098B-4512-A8AC-5DE67399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241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Kết nối loopback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F7FAD3-0402-4389-BB9F-E90E3759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241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CSP chỉ cho phép IPC và 127.0.0.1:11434.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7E5480-7881-400C-8298-F0886EED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AE4C00-DEAE-4DAB-A6AF-FCB3B80B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Quyền ứng dụng tối thiểu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2EF59-D5E0-4B28-A705-4183C2C1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1950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Capability hiện tại chỉ khai báo core:default.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D47F42-97AA-4DD1-8F64-A1564BBC4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72ECD-CB2C-4332-BEE0-76719F9F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14800"/>
            <a:ext cx="3886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Dữ liệu cục bộ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68088-B022-4559-8105-3FB41577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14850"/>
            <a:ext cx="3886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Chat, workspace, embedding và artifact được xử lý trên máy.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9790A-97E3-44B4-A1D2-39AA098F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47B4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47B4A"/>
                </a:solidFill>
                <a:latin typeface="Arial"/>
                <a:ea typeface="Arial"/>
                <a:cs typeface="Arial"/>
              </a:rPr>
              <a:t>KHOẢNG TRỐNG CẦN TỐI ƯU THÊM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985AE-CD47-4712-8D53-63799FAB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038350"/>
            <a:ext cx="5334000" cy="3162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9E35BD-90F1-4F74-9363-15BECA56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241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47B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47B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5BA18-A43A-4432-89DC-897C73E0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2410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Provisioning còn online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F384F9-E2E1-4E83-9278-71891675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407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Installer và chức năng pull model vẫn tải từ Internet.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935F3B-9617-471C-BD3D-F989D64D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1945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47B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47B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22435-98F2-4A66-A770-829ED27B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19450"/>
            <a:ext cx="4076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Chưa có bảo vệ cấp quân sự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E0D13-D58F-44B6-831B-86C1544B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19500"/>
            <a:ext cx="407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Cần mã hóa dữ liệu, backup, RBAC và log chống sửa đổi.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C61ED4-F6FF-4C99-8FBB-54F3339A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609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D47B4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D47B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F019F9-FE88-43A2-9AE7-36218E9B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4076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Chuỗi cập nhật chưa bảo mật hoàn toàn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3D344-AAC7-4BD6-845B-DD22AEB8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4076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Cần gói ký số, hash, SBOM và cổng kiểm duyệt phương tiện.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D82988-DA6F-412A-9430-5BA473B7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2450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Hiện tại vẫn chưa thể coi là bảo mật tuyệt đối cho đến khi cả cài đặt, model và cập nhật đều được đóng gói ngoại tuyến.</a:t>
            </a:r>
          </a:p>
        </p:txBody>
      </p:sp>
    </p:spTree>
    <p:extLst>
      <p:ext uri="{BB962C8B-B14F-4D97-AF65-F5344CB8AC3E}">
        <p14:creationId xmlns:p14="http://schemas.microsoft.com/office/powerpoint/2010/main" val="10308758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6EA660-55B7-4152-A1A2-228A34BD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VECTOR AI  /  OFFLINE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45B8A5-6FE0-43C6-B3B1-886D007A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Quy trình hai vùng giữ nhịp phát triển mà vẫn bảo vệ bí mật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2F835-6AC0-497F-9845-5B08F2CE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F5E5B"/>
                </a:solidFill>
                <a:latin typeface="Arial"/>
                <a:ea typeface="Arial"/>
                <a:cs typeface="Arial"/>
              </a:rPr>
              <a:t>VECTOR AI  /  ĐỀ XUẤT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9AC307-26FE-4905-B8E9-69C17397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B43F26-8107-404D-AA81-195E4467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57550"/>
            <a:ext cx="876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FFDE5-A6C6-45F6-A2F6-9F31C40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57550"/>
            <a:ext cx="87630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1F70C-5A89-449D-8BAA-72FB8D71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0" y="5257800"/>
            <a:ext cx="2762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AD1987-003D-44CF-831E-326EDE3BD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62550"/>
            <a:ext cx="6858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F14BA-992A-4684-89B3-1457C5F3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1809750"/>
            <a:ext cx="3524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0FA74C-9C7C-48CC-96B6-640BC7C97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VÙNG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E91B5-5FF0-46F1-B37F-1561F7C6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00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Phát triển kết nối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FA633-882C-4D01-BA49-B13FF4EE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47B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7B4A"/>
                </a:solidFill>
                <a:latin typeface="Arial"/>
                <a:ea typeface="Arial"/>
                <a:cs typeface="Arial"/>
              </a:rPr>
              <a:t>Không dùng dữ liệu mật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9BB9AA-05FB-465B-AC8F-8E7764DC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Phát triển UI và lõi chung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Dữ liệu giả lập / công khai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Kiểm thử tự động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Build tái lập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• Chuẩn bị SBOM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ABB671-B5C7-4FD4-A5F7-91177D6C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53000" y="2247900"/>
            <a:ext cx="22860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0A74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5E774-CC76-449E-BCD9-1F3E0805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955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CỔNG CHUYỂN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DDC44D-F4D0-4F19-AF63-CADC6F751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0512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Ký + kiểm duyệt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E0D20A-0EAD-4A72-B710-19BBD452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38550"/>
            <a:ext cx="1809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Hash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Quét mã độc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Phê duyệt con người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Phương tiện kiểm soát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3EE618-61FE-4292-A9B8-902C9400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0" y="1809750"/>
            <a:ext cx="3524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D9BFE6-9EB8-4481-87BA-CC23A7B78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574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6E6C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6E6C4"/>
                </a:solidFill>
                <a:latin typeface="Arial"/>
                <a:ea typeface="Arial"/>
                <a:cs typeface="Arial"/>
              </a:rPr>
              <a:t>VÙNG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BD18DB-2672-4FB5-8AAA-E5BE03486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003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Đánh giá air-gapped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F7D5B3-6BBF-4B28-AEA4-721680F5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76E6C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76E6C4"/>
                </a:solidFill>
                <a:latin typeface="Arial"/>
                <a:ea typeface="Arial"/>
                <a:cs typeface="Arial"/>
              </a:rPr>
              <a:t>Dữ liệu mật ở lại enclave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26E8EB-1A39-4A66-B7F3-1BD6777C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5DE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DEDB"/>
                </a:solidFill>
                <a:latin typeface="Arial"/>
                <a:ea typeface="Arial"/>
                <a:cs typeface="Arial"/>
              </a:rPr>
              <a:t>• Nạp bộ dữ liệu được duyệt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5DE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DEDB"/>
                </a:solidFill>
                <a:latin typeface="Arial"/>
                <a:ea typeface="Arial"/>
                <a:cs typeface="Arial"/>
              </a:rPr>
              <a:t>• Chạy benchmark miền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5DE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DEDB"/>
                </a:solidFill>
                <a:latin typeface="Arial"/>
                <a:ea typeface="Arial"/>
                <a:cs typeface="Arial"/>
              </a:rPr>
              <a:t>• Ghi log cục bộ đã ký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5DE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DEDB"/>
                </a:solidFill>
                <a:latin typeface="Arial"/>
                <a:ea typeface="Arial"/>
                <a:cs typeface="Arial"/>
              </a:rPr>
              <a:t>• Nghiệm thu chuyên gia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5DED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5DEDB"/>
                </a:solidFill>
                <a:latin typeface="Arial"/>
                <a:ea typeface="Arial"/>
                <a:cs typeface="Arial"/>
              </a:rPr>
              <a:t>• Không xuất dữ liệu thô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492BA4-C9B3-4A17-85D7-C2CB5D38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3911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Chỉ trả về chỉ số đã khử nhạy cảm và danh sách lỗi</a:t>
            </a:r>
          </a:p>
        </p:txBody>
      </p:sp>
    </p:spTree>
    <p:extLst>
      <p:ext uri="{BB962C8B-B14F-4D97-AF65-F5344CB8AC3E}">
        <p14:creationId xmlns:p14="http://schemas.microsoft.com/office/powerpoint/2010/main" val="4537592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380B096-A22E-4D89-97A2-6E09497B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VECTOR AI  /  OFFLINE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2AD719-9E76-49B1-AB28-C3028C5C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Kiến trúc mục tiêu khóa model, dữ liệu và cập nhật trong enclave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9713F0-EE38-4F50-821A-95D8C9E3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F5E5B"/>
                </a:solidFill>
                <a:latin typeface="Arial"/>
                <a:ea typeface="Arial"/>
                <a:cs typeface="Arial"/>
              </a:rPr>
              <a:t>VECTOR AI  /  ĐỀ XUẤT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6538D-50E8-48BD-95E1-B9FE68CB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7FB2C2-431B-486C-888E-E8C3FCE2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76600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C8A905-0E74-449C-96CB-043B0EA32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76600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6ACC41-64FB-4060-B213-75F102ABE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76600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386FE-BE54-4331-B616-2C8B27BA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76600"/>
            <a:ext cx="4762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A7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1B283D-2888-4657-BC11-1793040E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752600"/>
            <a:ext cx="657225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745C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BBD6F6-1CE6-43A0-8906-D88BF759A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85950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ENCLAVE KHÔNG CÓ TUYẾN MẠNG RA NGOÀI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C03960-2507-4C51-A899-64401266B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533650"/>
            <a:ext cx="1809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0A498F-808F-470D-8C0E-D50ACFC1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DFD5E-AA98-4018-8224-9A8F3D0C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Gói ofline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8446B6-4B3B-4003-9C15-7E9E0FB6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Ứng dụng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dependency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manifest + hash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937BD3-E3F6-4798-97DF-9251BA4F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57500" y="2533650"/>
            <a:ext cx="1809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EADF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AC35AE-30EE-4D3F-9291-65148B08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33929-D9D5-4363-9D3B-8F70B419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05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Trạm kiểm soát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3CDBF-0E02-4080-9722-469A3157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Quét mã độc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kiểm chữ ký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nhật ký phương tiện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27793-3761-4451-94BF-615D7D8B5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86375" y="2533650"/>
            <a:ext cx="1809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CED25C-CCC0-40EC-9822-62577483D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241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9187E-87E9-4E1C-A7E0-A81E4C2C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105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Runtime cô lập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1A99B3-7224-4A08-A9D8-9F6C1011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37147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Tauri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Ollama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Qwen local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4A43C1-5BF1-420D-92A0-CDE76651C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0" y="2533650"/>
            <a:ext cx="1809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7"/>
          </a:solidFill>
          <a:ln xmlns:a="http://schemas.openxmlformats.org/drawingml/2006/main" w="9525">
            <a:solidFill>
              <a:srgbClr val="B8C4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926CCF-670F-4031-B44D-CC5D7AB6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7D4F4E-C286-490F-A8C7-CC0607BB8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05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Kho mã hóa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F5858-A776-4DD3-83B4-360BB433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147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Workspace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log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backup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khóa truy cập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3E36D9-3FCC-42AA-ABD3-6A9D0B54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44125" y="2533650"/>
            <a:ext cx="1809750" cy="194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10"/>
          </a:solidFill>
          <a:ln xmlns:a="http://schemas.openxmlformats.org/drawingml/2006/main" w="9525">
            <a:solidFill>
              <a:srgbClr val="0A111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841CA4-1E89-4898-8816-C869DADF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724150"/>
            <a:ext cx="428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6E6C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76E6C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AB8FC7-85DB-4F22-B7CB-63B2178F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1051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Người vận hành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571970-EA54-487F-B4F8-3CC5BEF4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371475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D5DED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5DEDB"/>
                </a:solidFill>
                <a:latin typeface="Arial"/>
                <a:ea typeface="Arial"/>
                <a:cs typeface="Arial"/>
              </a:rPr>
              <a:t>Xem xét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D5DED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5DEDB"/>
                </a:solidFill>
                <a:latin typeface="Arial"/>
                <a:ea typeface="Arial"/>
                <a:cs typeface="Arial"/>
              </a:rPr>
              <a:t>phê duyệt</a:t>
            </a:r>
          </a:p>
          <a:p xmlns:a="http://schemas.openxmlformats.org/drawingml/2006/main">
            <a:pPr algn="l">
              <a:buNone/>
              <a:defRPr sz="1125" b="0">
                <a:solidFill>
                  <a:srgbClr val="D5DED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5DEDB"/>
                </a:solidFill>
                <a:latin typeface="Arial"/>
                <a:ea typeface="Arial"/>
                <a:cs typeface="Arial"/>
              </a:rPr>
              <a:t>xuất kết quả đã ký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0E61C4-5021-43C7-BD1D-2FF20A40F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657850"/>
            <a:ext cx="1104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0E97C1E-C32E-4FBA-B22D-44593F640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53100"/>
            <a:ext cx="1062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Cập nhật chỉ đi vào qua cổng kiểm duyệt; dữ liệu mật không đi ngược ra ngoài.</a:t>
            </a:r>
          </a:p>
        </p:txBody>
      </p:sp>
    </p:spTree>
    <p:extLst>
      <p:ext uri="{BB962C8B-B14F-4D97-AF65-F5344CB8AC3E}">
        <p14:creationId xmlns:p14="http://schemas.microsoft.com/office/powerpoint/2010/main" val="291141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0D8F78-D33A-4BDF-9D44-5AA10C41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VECTOR AI  /  OFFLINE COMPUTE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39D6C7-DBD4-4C75-8CC8-126627DD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66750"/>
            <a:ext cx="1104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Mục tiêu, định hướng thực hiện trong thời gian tới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7E1A6-6241-4B01-8601-41790F9D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389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4F5E5B"/>
                </a:solidFill>
                <a:latin typeface="Arial"/>
                <a:ea typeface="Arial"/>
                <a:cs typeface="Arial"/>
              </a:rPr>
              <a:t>VECTOR AI  /  ĐỀ XUẤT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43444-6242-4294-B133-B134D429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4F5E5B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F5E5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4C8B9-715E-40EA-B3CE-B3B6A23A2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526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Bốn mục tiêu ưu tiên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77FA2-BD63-401A-A520-AFC954D1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0A745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D67402-FF95-4484-A82B-A081D886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384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1E72F-AC0D-4EB0-A637-B143753E7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Đóng băng baseline v0.1 và phạm vi pilot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7235A6-B41D-4299-B710-0F4BE1CB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2952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D8886-C670-4E86-81AC-0CE09540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0A745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3CF8BE-F888-4899-9FBE-BFB1A45C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575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A4D5A-9A85-46CB-962E-12A97B6D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004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Tạo gói cài đặt + model ngoại tuyến đã ký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0C71ED-913D-455D-B651-323E910D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77190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55D507-3D53-4DA6-BD1D-32B273261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624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8EF"/>
          </a:solidFill>
          <a:ln xmlns:a="http://schemas.openxmlformats.org/drawingml/2006/main" w="9525">
            <a:solidFill>
              <a:srgbClr val="0A745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7869AF-7D2E-4E2B-BCEA-6475867E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8FB09B-7AE6-4A44-A40A-4FFC85D9F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Mã hóa dữ liệu, backup và bổ sung audit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92460-A91A-44D3-AC84-3C7DE4EF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45910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B8985B-3CE9-4440-B7B5-4410D548A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E6C4"/>
          </a:solidFill>
          <a:ln xmlns:a="http://schemas.openxmlformats.org/drawingml/2006/main" w="9525">
            <a:solidFill>
              <a:srgbClr val="0A745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ABA41F-B5A7-47F5-993D-F92183D3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958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A745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A745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F8E983-9339-4D9F-9D90-715BB1791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A111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A1110"/>
                </a:solidFill>
                <a:latin typeface="Arial"/>
                <a:ea typeface="Arial"/>
                <a:cs typeface="Arial"/>
              </a:rPr>
              <a:t>Xây benchmark; nghiệm thu bằng chuyên gia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F44B40-F884-4996-B7D6-F5D583C75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0" y="1733550"/>
            <a:ext cx="47625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1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450CF2-88DC-4221-97AA-FE1D9D9E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0980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ĐI CHẬM HƠN</a:t>
            </a:r>
          </a:p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Ở KHÂU CHUYỂN GIAO.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B8E8E-8441-4525-A58F-A0AE3499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4861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E6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E2FE34-1D11-4182-A275-9DD4CE73D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000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76E6C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76E6C4"/>
                </a:solidFill>
                <a:latin typeface="Arial"/>
                <a:ea typeface="Arial"/>
                <a:cs typeface="Arial"/>
              </a:rPr>
              <a:t>Nhanh hơn ở năng lực làm chủ, khả năng kiểm chứng và mức độ bảo vệ bí mật.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A03A84-EE0F-413F-84DB-1C654141B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76E6C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6E6C4"/>
                </a:solidFill>
                <a:latin typeface="Arial"/>
                <a:ea typeface="Arial"/>
                <a:cs typeface="Arial"/>
              </a:rPr>
              <a:t>PHẠM VI AN TOÀN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AFB275-CAA7-4436-88ED-ECD28AF8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1495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D5DED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5DEDB"/>
                </a:solidFill>
                <a:latin typeface="Arial"/>
                <a:ea typeface="Arial"/>
                <a:cs typeface="Arial"/>
              </a:rPr>
              <a:t>Nghiên cứu · huấn luyện · hậu cần · mô phỏng vật lý · hỗ trợ quyết định có con người kiểm soát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7C1A02-3677-47A9-AA99-41DC2D3C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436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D47B4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D47B4A"/>
                </a:solidFill>
                <a:latin typeface="Arial"/>
                <a:ea typeface="Arial"/>
                <a:cs typeface="Arial"/>
              </a:rPr>
              <a:t>Không sử dụng kết quả chưa được kiểm chứng.</a:t>
            </a:r>
          </a:p>
        </p:txBody>
      </p:sp>
    </p:spTree>
    <p:extLst>
      <p:ext uri="{BB962C8B-B14F-4D97-AF65-F5344CB8AC3E}">
        <p14:creationId xmlns:p14="http://schemas.microsoft.com/office/powerpoint/2010/main" val="7058335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2026-08-24T07:16:19.7270000Z</dcterms:created>
  <dcterms:modified xsi:type="dcterms:W3CDTF">2026-08-24T07:16:19.7270000Z</dcterms:modified>
</coreProperties>
</file>